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/>
          <a:p>
            <a:pPr algn="ctr">
              <a:lnSpc>
                <a:spcPct val="100000"/>
              </a:lnSpc>
            </a:pPr>
            <a:r>
              <a:rPr b="0" lang="en-IN" sz="5200" spc="-1" strike="noStrike">
                <a:solidFill>
                  <a:srgbClr val="000000"/>
                </a:solidFill>
                <a:latin typeface="Arial"/>
                <a:ea typeface="Arial"/>
              </a:rPr>
              <a:t>Titl</a:t>
            </a:r>
            <a:r>
              <a:rPr b="0" lang="en-IN" sz="5200" spc="-1" strike="noStrike">
                <a:solidFill>
                  <a:srgbClr val="000000"/>
                </a:solidFill>
                <a:latin typeface="Arial"/>
                <a:ea typeface="Arial"/>
              </a:rPr>
              <a:t>e </a:t>
            </a:r>
            <a:r>
              <a:rPr b="0" lang="en-IN" sz="5200" spc="-1" strike="noStrike">
                <a:solidFill>
                  <a:srgbClr val="000000"/>
                </a:solidFill>
                <a:latin typeface="Arial"/>
                <a:ea typeface="Arial"/>
              </a:rPr>
              <a:t>Te</a:t>
            </a:r>
            <a:r>
              <a:rPr b="0" lang="en-IN" sz="5200" spc="-1" strike="noStrike">
                <a:solidFill>
                  <a:srgbClr val="000000"/>
                </a:solidFill>
                <a:latin typeface="Arial"/>
                <a:ea typeface="Arial"/>
              </a:rPr>
              <a:t>xt</a:t>
            </a:r>
            <a:endParaRPr b="0" lang="en-IN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</p:spPr>
        <p:txBody>
          <a:bodyPr tIns="91440" bIns="91440"/>
          <a:p>
            <a:pPr marL="343080" indent="-228240" algn="ctr">
              <a:lnSpc>
                <a:spcPct val="100000"/>
              </a:lnSpc>
            </a:pPr>
            <a:r>
              <a:rPr b="0" lang="en-IN" sz="2800" spc="-1" strike="noStrike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b="0" lang="en-IN" sz="2800" spc="-1" strike="noStrike">
              <a:solidFill>
                <a:srgbClr val="585858"/>
              </a:solidFill>
              <a:latin typeface="Arial"/>
            </a:endParaRPr>
          </a:p>
          <a:p>
            <a:pPr marL="343080" indent="254160" algn="ctr">
              <a:lnSpc>
                <a:spcPct val="100000"/>
              </a:lnSpc>
            </a:pPr>
            <a:r>
              <a:rPr b="0" lang="en-IN" sz="2800" spc="-1" strike="noStrike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b="0" lang="en-IN" sz="2800" spc="-1" strike="noStrike">
              <a:solidFill>
                <a:srgbClr val="585858"/>
              </a:solidFill>
              <a:latin typeface="Arial"/>
            </a:endParaRPr>
          </a:p>
          <a:p>
            <a:pPr marL="343080" indent="711360" algn="ctr">
              <a:lnSpc>
                <a:spcPct val="100000"/>
              </a:lnSpc>
            </a:pPr>
            <a:r>
              <a:rPr b="0" lang="en-IN" sz="2800" spc="-1" strike="noStrike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b="0" lang="en-IN" sz="2800" spc="-1" strike="noStrike">
              <a:solidFill>
                <a:srgbClr val="585858"/>
              </a:solidFill>
              <a:latin typeface="Arial"/>
            </a:endParaRPr>
          </a:p>
          <a:p>
            <a:pPr marL="343080" indent="1168560" algn="ctr">
              <a:lnSpc>
                <a:spcPct val="100000"/>
              </a:lnSpc>
            </a:pPr>
            <a:r>
              <a:rPr b="0" lang="en-IN" sz="2800" spc="-1" strike="noStrike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b="0" lang="en-IN" sz="2800" spc="-1" strike="noStrike">
              <a:solidFill>
                <a:srgbClr val="585858"/>
              </a:solidFill>
              <a:latin typeface="Arial"/>
            </a:endParaRPr>
          </a:p>
          <a:p>
            <a:pPr marL="343080" indent="1625760" algn="ctr">
              <a:lnSpc>
                <a:spcPct val="100000"/>
              </a:lnSpc>
            </a:pPr>
            <a:r>
              <a:rPr b="0" lang="en-IN" sz="2800" spc="-1" strike="noStrike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b="0" lang="en-IN" sz="2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</p:spPr>
        <p:txBody>
          <a:bodyPr tIns="91440" bIns="91440" anchor="ctr"/>
          <a:p>
            <a:endParaRPr b="0" lang="en-IN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  <a:ea typeface="Arial"/>
              </a:rPr>
              <a:t>Title 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/>
          <a:p>
            <a:pPr marL="457200" indent="-34272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Body Level One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 lvl="1" marL="1005120" indent="-40788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Body Level Two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 lvl="2" marL="1462320" indent="-407880">
              <a:lnSpc>
                <a:spcPct val="115000"/>
              </a:lnSpc>
              <a:buClr>
                <a:srgbClr val="585858"/>
              </a:buClr>
              <a:buFont typeface="Arial"/>
              <a:buChar char="■"/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Body Level Three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 lvl="3" marL="1919520" indent="-407880"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Body Level Four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 lvl="4" marL="2376720" indent="-407880">
              <a:lnSpc>
                <a:spcPct val="115000"/>
              </a:lnSpc>
              <a:buClr>
                <a:srgbClr val="585858"/>
              </a:buClr>
              <a:buFont typeface="Arial"/>
              <a:buChar char="○"/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Body Level Five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/>
          </p:nvPr>
        </p:nvSpPr>
        <p:spPr>
          <a:xfrm>
            <a:off x="8684280" y="4700880"/>
            <a:ext cx="336600" cy="317880"/>
          </a:xfrm>
          <a:prstGeom prst="rect">
            <a:avLst/>
          </a:prstGeom>
        </p:spPr>
        <p:txBody>
          <a:bodyPr tIns="91440" bIns="91440" anchor="ctr"/>
          <a:p>
            <a:endParaRPr b="0" lang="en-IN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  <a:ea typeface="Arial"/>
              </a:rPr>
              <a:t>Assignment 1 Writeup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b="0" lang="en-IN" sz="1490" spc="-1" strike="noStrike">
                <a:solidFill>
                  <a:srgbClr val="585858"/>
                </a:solidFill>
                <a:latin typeface="Arial"/>
                <a:ea typeface="Arial"/>
              </a:rPr>
              <a:t>Name:</a:t>
            </a:r>
            <a:endParaRPr b="0" lang="en-IN" sz="1490" spc="-1" strike="noStrike">
              <a:latin typeface="Arial"/>
            </a:endParaRPr>
          </a:p>
          <a:p>
            <a:pPr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b="0" lang="en-IN" sz="1490" spc="-1" strike="noStrike">
                <a:solidFill>
                  <a:srgbClr val="585858"/>
                </a:solidFill>
                <a:latin typeface="Arial"/>
                <a:ea typeface="Arial"/>
              </a:rPr>
              <a:t>GT Email:</a:t>
            </a:r>
            <a:endParaRPr b="0" lang="en-IN" sz="1490" spc="-1" strike="noStrike">
              <a:latin typeface="Arial"/>
            </a:endParaRPr>
          </a:p>
          <a:p>
            <a:pPr>
              <a:lnSpc>
                <a:spcPct val="115000"/>
              </a:lnSpc>
              <a:buClr>
                <a:srgbClr val="585858"/>
              </a:buClr>
              <a:buFont typeface="Arial"/>
              <a:buChar char="●"/>
            </a:pPr>
            <a:r>
              <a:rPr b="0" lang="en-IN" sz="1490" spc="-1" strike="noStrike">
                <a:solidFill>
                  <a:srgbClr val="585858"/>
                </a:solidFill>
                <a:latin typeface="Arial"/>
                <a:ea typeface="Arial"/>
              </a:rPr>
              <a:t>GT ID:</a:t>
            </a:r>
            <a:endParaRPr b="0" lang="en-IN" sz="149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636480" y="1909440"/>
            <a:ext cx="7870680" cy="9136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0" lang="en-IN" sz="4800" spc="-1" strike="noStrike">
                <a:solidFill>
                  <a:srgbClr val="000000"/>
                </a:solidFill>
                <a:latin typeface="Arial"/>
                <a:ea typeface="Arial"/>
              </a:rPr>
              <a:t>Two-Layer Neural Network</a:t>
            </a:r>
            <a:endParaRPr b="0" lang="en-IN" sz="48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 marL="438840" indent="-3898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Learning Rates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Tune the learning rate of the model with all other default hyper-parameters fixed. Fill in the table below: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graphicFrame>
        <p:nvGraphicFramePr>
          <p:cNvPr id="83" name="Table 3"/>
          <p:cNvGraphicFramePr/>
          <p:nvPr/>
        </p:nvGraphicFramePr>
        <p:xfrm>
          <a:off x="1216080" y="2367720"/>
          <a:ext cx="5170320" cy="1142640"/>
        </p:xfrm>
        <a:graphic>
          <a:graphicData uri="http://schemas.openxmlformats.org/drawingml/2006/table">
            <a:tbl>
              <a:tblPr/>
              <a:tblGrid>
                <a:gridCol w="1033920"/>
                <a:gridCol w="1033920"/>
                <a:gridCol w="1033920"/>
                <a:gridCol w="1033920"/>
                <a:gridCol w="1034640"/>
              </a:tblGrid>
              <a:tr h="382320"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lr=1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lr=1e-1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lr=1e-2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lr=5e-2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82120"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Training Accuracy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82120"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 Accuracy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 marL="438840" indent="-3898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Learning Curve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Plot the learning curves [both accuracy and loss curves] and put it below: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 marL="438840" indent="-3898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Learning Rates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Describe and Explain your findings: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2. Regularization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Tune the regularization coefficient of the model with all other default hyper-parameters fixed. Fill in the table below: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  <p:graphicFrame>
        <p:nvGraphicFramePr>
          <p:cNvPr id="90" name="Table 3"/>
          <p:cNvGraphicFramePr/>
          <p:nvPr/>
        </p:nvGraphicFramePr>
        <p:xfrm>
          <a:off x="428760" y="2019600"/>
          <a:ext cx="6780240" cy="1539000"/>
        </p:xfrm>
        <a:graphic>
          <a:graphicData uri="http://schemas.openxmlformats.org/drawingml/2006/table">
            <a:tbl>
              <a:tblPr/>
              <a:tblGrid>
                <a:gridCol w="1130040"/>
                <a:gridCol w="1215000"/>
                <a:gridCol w="1357200"/>
                <a:gridCol w="817560"/>
                <a:gridCol w="1130040"/>
                <a:gridCol w="1130400"/>
              </a:tblGrid>
              <a:tr h="582120"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alpha=1e-1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alpha=1e-2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alpha=1e-3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alpha=1e-4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alpha=1e-0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82120"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Training Accuracy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82120"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Validation Accuracy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582120">
                <a:tc>
                  <a:txBody>
                    <a:bodyPr lIns="91080" rIns="91080" tIns="91080" bIns="9108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 Accuracy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2. Regularization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Plot the learning curves </a:t>
            </a: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[both accuracy and loss curves] and put it below: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2. Regularization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Describe and Explain your findings: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IN" sz="2690" spc="-1" strike="noStrike">
                <a:solidFill>
                  <a:srgbClr val="000000"/>
                </a:solidFill>
                <a:latin typeface="Arial"/>
                <a:ea typeface="Arial"/>
              </a:rPr>
              <a:t>3. Hyper-parameter Tuning</a:t>
            </a:r>
            <a:endParaRPr b="0" lang="en-IN" sz="2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12600">
            <a:noFill/>
          </a:ln>
        </p:spPr>
        <p:txBody>
          <a:bodyPr tIns="91440" bIns="91440"/>
          <a:p>
            <a:pPr>
              <a:lnSpc>
                <a:spcPct val="115000"/>
              </a:lnSpc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You are now free to tune any hyper-parameters for better accuracy. Create a table below and put the configuration of your best model and accuracy into the table: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r>
              <a:rPr b="0" lang="en-IN" sz="1800" spc="-1" strike="noStrike">
                <a:solidFill>
                  <a:srgbClr val="585858"/>
                </a:solidFill>
                <a:latin typeface="Arial"/>
                <a:ea typeface="Arial"/>
              </a:rPr>
              <a:t>Briefly explain why your choice works:</a:t>
            </a:r>
            <a:endParaRPr b="0" lang="en-IN" sz="1800" spc="-1" strike="noStrike">
              <a:solidFill>
                <a:srgbClr val="585858"/>
              </a:solid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2021-10-31T18:26:50Z</dcterms:modified>
  <cp:revision>1</cp:revision>
  <dc:subject/>
  <dc:title/>
</cp:coreProperties>
</file>